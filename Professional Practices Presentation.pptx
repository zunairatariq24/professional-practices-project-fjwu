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73" r:id="rId2"/>
    <p:sldId id="274" r:id="rId3"/>
    <p:sldId id="258" r:id="rId4"/>
    <p:sldId id="278" r:id="rId5"/>
    <p:sldId id="259" r:id="rId6"/>
    <p:sldId id="260" r:id="rId7"/>
    <p:sldId id="262" r:id="rId8"/>
    <p:sldId id="286" r:id="rId9"/>
    <p:sldId id="263" r:id="rId10"/>
    <p:sldId id="265" r:id="rId11"/>
    <p:sldId id="264" r:id="rId12"/>
    <p:sldId id="268" r:id="rId13"/>
    <p:sldId id="284" r:id="rId14"/>
    <p:sldId id="267" r:id="rId15"/>
    <p:sldId id="261" r:id="rId16"/>
    <p:sldId id="276" r:id="rId17"/>
    <p:sldId id="275" r:id="rId18"/>
    <p:sldId id="271" r:id="rId19"/>
    <p:sldId id="272" r:id="rId20"/>
    <p:sldId id="28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04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1D4ED8">
              <a:alpha val="4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743200" cy="27432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47472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chemeClr val="tx1"/>
                </a:solidFill>
              </a:rPr>
              <a:t>FJWU · Research Presntation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Beyond GPA: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Are FJWU Students </a:t>
            </a:r>
            <a:r>
              <a:rPr lang="en-US" sz="36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Truly </a:t>
            </a:r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</a:rPr>
              <a:t>Job-Ready?</a:t>
            </a:r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77724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    An Analytical Framework Combining Research · NLP · Data Analytics · Professional Ethics</a:t>
            </a:r>
          </a:p>
        </p:txBody>
      </p:sp>
      <p:sp>
        <p:nvSpPr>
          <p:cNvPr id="12" name="Shape 10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52A45"/>
          </a:solidFill>
          <a:ln w="12700">
            <a:solidFill>
              <a:srgbClr val="152A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AI &amp; Data Science  ·  Mixed-Method Research  ·  NLP Analysis  ·  Professional Practices</a:t>
            </a:r>
            <a:endParaRPr lang="en-US" sz="1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560320"/>
            <a:ext cx="822960" cy="822960"/>
          </a:xfrm>
          <a:prstGeom prst="rect">
            <a:avLst/>
          </a:prstGeom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12128" y="3436337"/>
            <a:ext cx="1078706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12128" y="3700655"/>
            <a:ext cx="1078706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5497991" y="3700655"/>
            <a:ext cx="1078706" cy="2071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3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4312128" y="3964974"/>
            <a:ext cx="1078706" cy="20716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93;p13"/>
          <p:cNvSpPr txBox="1"/>
          <p:nvPr/>
        </p:nvSpPr>
        <p:spPr>
          <a:xfrm>
            <a:off x="2285997" y="3377917"/>
            <a:ext cx="188706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1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Capstone Project Presentation</a:t>
            </a:r>
          </a:p>
        </p:txBody>
      </p:sp>
      <p:sp>
        <p:nvSpPr>
          <p:cNvPr id="15" name="Google Shape;94;p13"/>
          <p:cNvSpPr txBox="1"/>
          <p:nvPr/>
        </p:nvSpPr>
        <p:spPr>
          <a:xfrm>
            <a:off x="2285997" y="3581514"/>
            <a:ext cx="188706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Department of Computer Science</a:t>
            </a:r>
          </a:p>
        </p:txBody>
      </p:sp>
      <p:sp>
        <p:nvSpPr>
          <p:cNvPr id="16" name="Google Shape;95;p13"/>
          <p:cNvSpPr txBox="1"/>
          <p:nvPr/>
        </p:nvSpPr>
        <p:spPr>
          <a:xfrm>
            <a:off x="2285997" y="3785110"/>
            <a:ext cx="1887066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Fatima Jinnah Women University</a:t>
            </a:r>
          </a:p>
        </p:txBody>
      </p:sp>
      <p:sp>
        <p:nvSpPr>
          <p:cNvPr id="17" name="Google Shape;96;p13"/>
          <p:cNvSpPr txBox="1"/>
          <p:nvPr/>
        </p:nvSpPr>
        <p:spPr>
          <a:xfrm>
            <a:off x="2285997" y="3988708"/>
            <a:ext cx="1887075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i="0" u="none" strike="noStrike" cap="none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Batch 202</a:t>
            </a:r>
            <a:r>
              <a:rPr lang="en-US" sz="950">
                <a:solidFill>
                  <a:schemeClr val="tx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3-27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4855" y="3223260"/>
            <a:ext cx="2738755" cy="11893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Understanding Professional Practices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8138160" cy="1051560"/>
          </a:xfrm>
          <a:prstGeom prst="rect">
            <a:avLst/>
          </a:prstGeom>
          <a:noFill/>
        </p:spPr>
        <p:txBody>
          <a:bodyPr wrap="square" lIns="0" tIns="126999" rIns="126999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"Professional Practices means how professionally, ethically, systematically, and responsibly you handle a real-world project."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606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665" y="2708910"/>
            <a:ext cx="443230" cy="44323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standards &amp; quality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136392" y="260604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5650" y="2744470"/>
            <a:ext cx="407670" cy="40767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96312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496312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&amp; responsibility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266944" y="2606040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665" y="2788920"/>
            <a:ext cx="351790" cy="35179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26864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Systematic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626864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&amp; methodical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397496" y="260604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9510" y="2720340"/>
            <a:ext cx="466090" cy="46609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57416" y="3383280"/>
            <a:ext cx="1965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757416" y="3749040"/>
            <a:ext cx="1965960" cy="640080"/>
          </a:xfrm>
          <a:prstGeom prst="rect">
            <a:avLst/>
          </a:prstGeom>
          <a:noFill/>
        </p:spPr>
        <p:txBody>
          <a:bodyPr wrap="square" lIns="0" tIns="76200" rIns="7620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Accountable outcomes</a:t>
            </a:r>
            <a:endParaRPr lang="en-US" sz="100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65" y="1090930"/>
            <a:ext cx="8422640" cy="126746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" y="3406140"/>
            <a:ext cx="9144000" cy="1492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Problem Identification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14300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143000"/>
            <a:ext cx="37490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143000"/>
            <a:ext cx="3749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REAL-WORLD GAP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1783080"/>
            <a:ext cx="1554480" cy="12801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783080"/>
            <a:ext cx="1554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GPA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" y="224028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3.5 – 4.0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4360" y="278892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Academic Score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194560" y="2240280"/>
            <a:ext cx="4572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48840" y="1810385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≠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697480" y="1783080"/>
            <a:ext cx="1188720" cy="128016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97480" y="1783080"/>
            <a:ext cx="1188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 READY?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697480" y="2240280"/>
            <a:ext cx="1188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697480" y="27889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Ready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" y="3246120"/>
            <a:ext cx="3383280" cy="123444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3291840"/>
            <a:ext cx="3200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Finding: </a:t>
            </a: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may achieve high GPA yet still feel fundamentally unprepared for real-world employment challenges.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343400" y="1143000"/>
            <a:ext cx="44348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43400" y="1143000"/>
            <a:ext cx="44348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43400" y="114300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IS PROFESSIONAL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0" y="18105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1801368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892040" y="17373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a meaningful, real-world educational problem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572000" y="24963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2487168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892040" y="24231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Questioned existing assumptions about academic success metrics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4572000" y="31821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172968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892040" y="31089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Focused on student employability — a genuine societal challenge</a:t>
            </a:r>
            <a:endParaRPr lang="en-US" sz="1150" dirty="0"/>
          </a:p>
        </p:txBody>
      </p:sp>
      <p:sp>
        <p:nvSpPr>
          <p:cNvPr id="34" name="Shape 28"/>
          <p:cNvSpPr/>
          <p:nvPr/>
        </p:nvSpPr>
        <p:spPr>
          <a:xfrm>
            <a:off x="4572000" y="386791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3858768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4892040" y="3794760"/>
            <a:ext cx="3749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analytical thinking before beginning any data collection</a:t>
            </a:r>
            <a:endParaRPr lang="en-US" sz="1150" dirty="0"/>
          </a:p>
        </p:txBody>
      </p:sp>
      <p:sp>
        <p:nvSpPr>
          <p:cNvPr id="37" name="Shape 30"/>
          <p:cNvSpPr/>
          <p:nvPr/>
        </p:nvSpPr>
        <p:spPr>
          <a:xfrm>
            <a:off x="4343400" y="4480560"/>
            <a:ext cx="4434840" cy="2286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343400" y="4480560"/>
            <a:ext cx="44348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Evidence-Based Problem Definition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953297" y="1507869"/>
            <a:ext cx="3821906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6"/>
          <p:cNvSpPr/>
          <p:nvPr/>
        </p:nvSpPr>
        <p:spPr>
          <a:xfrm>
            <a:off x="6990111" y="2966075"/>
            <a:ext cx="2143125" cy="2143125"/>
          </a:xfrm>
          <a:prstGeom prst="roundRect">
            <a:avLst>
              <a:gd name="adj" fmla="val 50000"/>
            </a:avLst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571500" y="1297838"/>
            <a:ext cx="4013001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E05A1D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THE CENTRAL QUESTION</a:t>
            </a:r>
          </a:p>
        </p:txBody>
      </p:sp>
      <p:sp>
        <p:nvSpPr>
          <p:cNvPr id="159" name="Google Shape;159;p16"/>
          <p:cNvSpPr txBox="1"/>
          <p:nvPr/>
        </p:nvSpPr>
        <p:spPr>
          <a:xfrm>
            <a:off x="571500" y="1659255"/>
            <a:ext cx="6796405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Inter Medium" panose="02000503000000020004"/>
                <a:ea typeface="Inter Medium" panose="02000503000000020004"/>
                <a:cs typeface="Inter Medium" panose="02000503000000020004"/>
                <a:sym typeface="Inter Medium" panose="02000503000000020004"/>
              </a:rPr>
              <a:t>"Does academic performance alone determine job readiness, or do practical skills and industry exposure play a greater role?"</a:t>
            </a:r>
          </a:p>
        </p:txBody>
      </p:sp>
      <p:sp>
        <p:nvSpPr>
          <p:cNvPr id="160" name="Google Shape;160;p16"/>
          <p:cNvSpPr txBox="1"/>
          <p:nvPr/>
        </p:nvSpPr>
        <p:spPr>
          <a:xfrm>
            <a:off x="571500" y="2812405"/>
            <a:ext cx="4013001" cy="30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Target Investigation Areas</a:t>
            </a:r>
          </a:p>
        </p:txBody>
      </p:sp>
      <p:sp>
        <p:nvSpPr>
          <p:cNvPr id="161" name="Google Shape;161;p16"/>
          <p:cNvSpPr txBox="1"/>
          <p:nvPr/>
        </p:nvSpPr>
        <p:spPr>
          <a:xfrm>
            <a:off x="771525" y="3148330"/>
            <a:ext cx="6024245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Comparison of high CGPA versus practical application confidence</a:t>
            </a:r>
          </a:p>
        </p:txBody>
      </p:sp>
      <p:sp>
        <p:nvSpPr>
          <p:cNvPr id="162" name="Google Shape;162;p16"/>
          <p:cNvSpPr txBox="1"/>
          <p:nvPr/>
        </p:nvSpPr>
        <p:spPr>
          <a:xfrm>
            <a:off x="771525" y="3405336"/>
            <a:ext cx="3621881" cy="276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Influence of industry internships &amp; standard certifications</a:t>
            </a:r>
          </a:p>
        </p:txBody>
      </p:sp>
      <p:sp>
        <p:nvSpPr>
          <p:cNvPr id="163" name="Google Shape;163;p16"/>
          <p:cNvSpPr txBox="1"/>
          <p:nvPr/>
        </p:nvSpPr>
        <p:spPr>
          <a:xfrm>
            <a:off x="771525" y="3662511"/>
            <a:ext cx="3621881" cy="55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Disconnect between academic curricula &amp; modern market demands</a:t>
            </a:r>
          </a:p>
        </p:txBody>
      </p:sp>
      <p:pic>
        <p:nvPicPr>
          <p:cNvPr id="164" name="Google Shape;164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176736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433911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3691086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678656" y="428625"/>
            <a:ext cx="8288536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Research Problem</a:t>
            </a:r>
          </a:p>
        </p:txBody>
      </p:sp>
      <p:sp>
        <p:nvSpPr>
          <p:cNvPr id="168" name="Google Shape;168;p16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Requirements Gathering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269748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34440" y="1371600"/>
            <a:ext cx="868680" cy="8686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1435608"/>
            <a:ext cx="731520" cy="7315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" y="2331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0040" y="2697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data source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29768" y="3017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Surveyed student perception of job readiness, skill gaps, and academic experience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246120" y="11887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246120" y="1188720"/>
            <a:ext cx="269748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60520" y="1371600"/>
            <a:ext cx="868680" cy="8686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435608"/>
            <a:ext cx="731520" cy="7315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246120" y="2331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Context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246120" y="2697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Institutional background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3355848" y="3017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FJWU academic environment, curriculum structure, and student demographics considered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172200" y="1188720"/>
            <a:ext cx="269748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172200" y="1188720"/>
            <a:ext cx="2697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086600" y="1371600"/>
            <a:ext cx="868680" cy="8686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1435608"/>
            <a:ext cx="731520" cy="7315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2331720"/>
            <a:ext cx="2697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172200" y="2697480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Job-readiness benchmarks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281928" y="3017520"/>
            <a:ext cx="2468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expectations for skills, communication, and professional competencies examined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320040" y="393192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0040" y="3931920"/>
            <a:ext cx="64008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02920" y="39776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502920" y="42976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Questionnaire designed to avoid bias · Gather authentic insights · Capture real student behavior · Cover all stakeholder perspectives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Ethical Data Collection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64008" cy="1737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39903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12984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Consent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188720" y="169164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 voluntarily filled out forms. No coercion or pressure applied at any stage.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09160" y="11887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709160" y="118872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937760" y="137160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399032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29844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Privacy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169164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sensitive personal information was collected. Participant anonymity fully maintained.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2004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108960"/>
            <a:ext cx="64008" cy="1737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319272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88720" y="32186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188720" y="3611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responses used exclusively for academic research purposes only.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709160" y="31089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709160" y="310896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937760" y="329184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19272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77840" y="3218688"/>
            <a:ext cx="3108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Transparency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5577840" y="3611880"/>
            <a:ext cx="3108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Participants were fully informed about the purpose and scope of the research.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Ethical research framework — making this project credible, trustworthy, and academically sound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 ·  Data Management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1508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353312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2004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Survey responses collected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2880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4767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05740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057400" y="1188720"/>
            <a:ext cx="1508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68880" y="1353312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205740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Dataset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4884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Organized into columns &amp; rows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56616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8503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79476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94760" y="1188720"/>
            <a:ext cx="1508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06240" y="135331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0624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79476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388620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Inconsistencies removed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30352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2239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53212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32120" y="1188720"/>
            <a:ext cx="1508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943600" y="135331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553212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Conversion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62356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→ analyzable format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040880" y="1965960"/>
            <a:ext cx="201168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159752" y="1828800"/>
            <a:ext cx="1828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7269480" y="1188720"/>
            <a:ext cx="15087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269480" y="1188720"/>
            <a:ext cx="1508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680960" y="135331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8096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7269480" y="21031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Ready for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Analysis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7360920" y="2560320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Clean, reliable dataset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32004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20040" y="324612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" y="3337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02920" y="3749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Accurate, complete records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324612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246120" y="32461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429000" y="3337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3429000" y="3749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Consistent, reproducible data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6172200" y="32461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54" name="Shape 51"/>
          <p:cNvSpPr/>
          <p:nvPr/>
        </p:nvSpPr>
        <p:spPr>
          <a:xfrm>
            <a:off x="6172200" y="324612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355080" y="333756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</a:t>
            </a:r>
            <a:endParaRPr lang="en-US" sz="1300" dirty="0"/>
          </a:p>
        </p:txBody>
      </p:sp>
      <p:sp>
        <p:nvSpPr>
          <p:cNvPr id="56" name="Text 53"/>
          <p:cNvSpPr/>
          <p:nvPr/>
        </p:nvSpPr>
        <p:spPr>
          <a:xfrm>
            <a:off x="6355080" y="3749040"/>
            <a:ext cx="24688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Verified, bias-reduced inputs</a:t>
            </a:r>
            <a:endParaRPr lang="en-US" sz="1050" dirty="0"/>
          </a:p>
        </p:txBody>
      </p:sp>
      <p:sp>
        <p:nvSpPr>
          <p:cNvPr id="57" name="Shape 54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Structured data pipeline ensuring integrity, accuracy, and reliability throughout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 </a:t>
            </a: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 </a:t>
            </a:r>
            <a:r>
              <a:rPr lang="en-US" sz="24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Analysis 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304245"/>
            <a:ext cx="150876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2057400" y="1305729"/>
            <a:ext cx="15087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46888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3794760" y="1287953"/>
            <a:ext cx="150876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0624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5532120" y="1287957"/>
            <a:ext cx="1508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7269480" y="1266688"/>
            <a:ext cx="15087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80960" y="135331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800" dirty="0"/>
          </a:p>
        </p:txBody>
      </p:sp>
      <p:sp>
        <p:nvSpPr>
          <p:cNvPr id="45" name="Shape 42"/>
          <p:cNvSpPr/>
          <p:nvPr/>
        </p:nvSpPr>
        <p:spPr>
          <a:xfrm>
            <a:off x="281620" y="1706774"/>
            <a:ext cx="8496620" cy="23741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301753" y="1706774"/>
            <a:ext cx="76480" cy="237414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288629" y="4263798"/>
            <a:ext cx="8482602" cy="58535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32514" y="4263798"/>
            <a:ext cx="45719" cy="58535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Box 58"/>
          <p:cNvSpPr txBox="1"/>
          <p:nvPr/>
        </p:nvSpPr>
        <p:spPr>
          <a:xfrm>
            <a:off x="398366" y="2086695"/>
            <a:ext cx="4730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Tx/>
              <a:buChar char="-"/>
            </a:pPr>
            <a:r>
              <a:rPr lang="en-US" sz="1200" dirty="0"/>
              <a:t>Our overall analysis focused on understanding the gap between academic GPA and actual job readiness among students.</a:t>
            </a:r>
            <a:endParaRPr lang="en-US" sz="1200" dirty="0" smtClean="0"/>
          </a:p>
          <a:p>
            <a:pPr marL="285750" indent="-285750" algn="just">
              <a:buFontTx/>
              <a:buChar char="-"/>
            </a:pPr>
            <a:r>
              <a:rPr lang="en-US" sz="1200" dirty="0" smtClean="0"/>
              <a:t>Compared </a:t>
            </a:r>
            <a:r>
              <a:rPr lang="en-US" sz="1200" dirty="0"/>
              <a:t>GPA with practical skills and industry </a:t>
            </a:r>
            <a:r>
              <a:rPr lang="en-US" sz="1200" dirty="0" smtClean="0"/>
              <a:t>preparedness</a:t>
            </a:r>
          </a:p>
          <a:p>
            <a:pPr marL="285750" indent="-285750" algn="just">
              <a:buFontTx/>
              <a:buChar char="-"/>
            </a:pPr>
            <a:r>
              <a:rPr lang="en-US" sz="1200" dirty="0" smtClean="0"/>
              <a:t>Identified </a:t>
            </a:r>
            <a:r>
              <a:rPr lang="en-US" sz="1200" dirty="0"/>
              <a:t>major skill gaps and employability </a:t>
            </a:r>
            <a:r>
              <a:rPr lang="en-US" sz="1200" dirty="0" smtClean="0"/>
              <a:t>challenges</a:t>
            </a:r>
          </a:p>
          <a:p>
            <a:pPr marL="285750" indent="-285750" algn="just">
              <a:buFontTx/>
              <a:buChar char="-"/>
            </a:pPr>
            <a:r>
              <a:rPr lang="en-US" sz="1200" dirty="0" smtClean="0"/>
              <a:t>Used </a:t>
            </a:r>
            <a:r>
              <a:rPr lang="en-US" sz="1200" dirty="0"/>
              <a:t>data visualization and dashboards for </a:t>
            </a:r>
            <a:r>
              <a:rPr lang="en-US" sz="1200" dirty="0" smtClean="0"/>
              <a:t>insights</a:t>
            </a:r>
          </a:p>
          <a:p>
            <a:pPr marL="285750" indent="-285750" algn="just">
              <a:buFontTx/>
              <a:buChar char="-"/>
            </a:pPr>
            <a:r>
              <a:rPr lang="en-US" sz="1200" b="1" dirty="0"/>
              <a:t>Tool Used:</a:t>
            </a:r>
            <a:r>
              <a:rPr lang="en-US" sz="1200" dirty="0"/>
              <a:t> </a:t>
            </a:r>
            <a:endParaRPr lang="en-US" sz="1200" dirty="0" smtClean="0"/>
          </a:p>
          <a:p>
            <a:pPr marL="285750" indent="-285750" algn="just">
              <a:buFontTx/>
              <a:buChar char="-"/>
            </a:pPr>
            <a:r>
              <a:rPr lang="en-US" sz="1200" dirty="0" smtClean="0"/>
              <a:t>Microsoft </a:t>
            </a:r>
            <a:r>
              <a:rPr lang="en-US" sz="1200" dirty="0"/>
              <a:t>Power BI Desktop (Version 2.154.956.0) was used for data visualization, dashboard creation, and analytical reporting in this project.</a:t>
            </a:r>
            <a:endParaRPr lang="en-US" sz="1200" dirty="0" smtClean="0"/>
          </a:p>
        </p:txBody>
      </p:sp>
      <p:sp>
        <p:nvSpPr>
          <p:cNvPr id="60" name="TextBox 59"/>
          <p:cNvSpPr txBox="1"/>
          <p:nvPr/>
        </p:nvSpPr>
        <p:spPr>
          <a:xfrm>
            <a:off x="426243" y="4402588"/>
            <a:ext cx="8196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Professional Practices applied through evidence-based decision making and systematic project management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728" y="1771184"/>
            <a:ext cx="3445423" cy="206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67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Research Methodology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8503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1143000"/>
            <a:ext cx="8503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Mixed-Method Research Approach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182880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828800"/>
            <a:ext cx="3977640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18288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QUANTITATIVE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4231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377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Likert-scale survey responses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8803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2834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Numerical GPA correlation data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3375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Statistical frequency analysis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02920" y="37947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Percentage-based skill gap mapping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02920" y="425196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Rating-scale self-assessment data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160520" y="297180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60520" y="2971800"/>
            <a:ext cx="8229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4846320" y="1828800"/>
            <a:ext cx="3977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846320" y="1828800"/>
            <a:ext cx="39776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182880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QUALITATIVE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029200" y="24231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303520" y="23774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Open-ended student response text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029200" y="28803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03520" y="28346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Thematic pattern extraction via NLP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29200" y="33375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0" y="32918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Sentiment and opinion analysis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5029200" y="37947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303520" y="37490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Narrative coding of student concerns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5029200" y="425196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03520" y="4206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Emergent theme identification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Real-world research demands multiple data types — we didn't rely on just one method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Critical Thinking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71600" y="1188720"/>
            <a:ext cx="6400800" cy="1188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371600" y="1188720"/>
            <a:ext cx="6400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Question We Dared to Ask: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0" y="155448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"Does GPA Actually Reflect Job Readiness?"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320040" y="25603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2560320"/>
            <a:ext cx="411480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560320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Analytical Thinking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309067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04495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Questioned conventional wisdom about GPA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02920" y="363931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59359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Challenged assumed correlation between grades &amp; skills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02920" y="4187952"/>
            <a:ext cx="182880" cy="1828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7240" y="414223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Used evidence to examine a widely-held belief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63440" y="2560320"/>
            <a:ext cx="41148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663440" y="2560320"/>
            <a:ext cx="4114800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63440" y="2560320"/>
            <a:ext cx="4114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Evidence-Based Questioning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309067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20640" y="304495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a study to test, not just assume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46320" y="363931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20640" y="359359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data shape the conclusions, not the other way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846320" y="4187952"/>
            <a:ext cx="182880" cy="1828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20640" y="4142232"/>
            <a:ext cx="3520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Maintained objectivity throughout the process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Analytical thinking and evidence-based inquiry — the core of all professional research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Responsible AI Usage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43000"/>
            <a:ext cx="429768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43000"/>
            <a:ext cx="429768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143000"/>
            <a:ext cx="4297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ANALYSIS PIPELINE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1783080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719072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Collection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005840" y="1993392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open-ended responses gathered from students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322576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32257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05840" y="225856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532888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Tokenization, stopword removal, normalization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86207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2862072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05840" y="2798064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 Analysis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Frequency analysis and keyword extraction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340156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340156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" y="333756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Theme Extraction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3611880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Thematic clustering of recurring concerns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3941064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94106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3877056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Insight Generation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005840" y="4151376"/>
            <a:ext cx="3383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findings for decision making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800600" y="1143000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800600" y="1143000"/>
            <a:ext cx="64008" cy="1170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83480" y="12344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Responsible AI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4983480" y="1618488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Applied NLP ethically without invasive profiling or data misuse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4800600" y="2404872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800600" y="2404872"/>
            <a:ext cx="6400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249631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Explainable Analysis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983480" y="2880360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AI-assisted findings can be traced back to source responses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4800600" y="3666744"/>
            <a:ext cx="40233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4800600" y="3666744"/>
            <a:ext cx="6400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983480" y="375818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983480" y="4142232"/>
            <a:ext cx="37033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Conclusions drawn from evidence, not assumptions or intuition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Responsible, explainable AI usage with data-driven decision making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 Impact Thinking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5920" y="1143000"/>
            <a:ext cx="585216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0" y="114300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3A5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creates measurable impact across three key stakeholders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" y="17373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1737360"/>
            <a:ext cx="274320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280160" y="1874520"/>
            <a:ext cx="822960" cy="8229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4168" y="1938528"/>
            <a:ext cx="694944" cy="6949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0040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484632" y="324612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4088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personal skill gaps before graduation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84632" y="367588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04088" y="363016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Better preparation and planning for careers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484632" y="410565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4088" y="405993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Shift focus from GPA-only to holistic readiness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84632" y="453542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04088" y="448970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Gain self-awareness about employability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3264408" y="17373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3264408" y="1737360"/>
            <a:ext cx="274320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224528" y="187452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1938528"/>
            <a:ext cx="694944" cy="69494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264408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3429000" y="324612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48456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to support curriculum reform decisions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3429000" y="367588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3648456" y="363016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Evidence for adding practical skill development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3429000" y="410565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648456" y="405993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Bridge the gap between academia and industry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3429000" y="4535424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3648456" y="448970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Improve graduate employment outcomes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6208776" y="1737360"/>
            <a:ext cx="27432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208776" y="1737360"/>
            <a:ext cx="27432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168896" y="187452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4" y="1938528"/>
            <a:ext cx="694944" cy="694944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208776" y="2788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6373368" y="324612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592824" y="3200400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to better-prepared skilled graduates</a:t>
            </a:r>
            <a:endParaRPr lang="en-US" sz="950" dirty="0"/>
          </a:p>
        </p:txBody>
      </p:sp>
      <p:sp>
        <p:nvSpPr>
          <p:cNvPr id="42" name="Shape 36"/>
          <p:cNvSpPr/>
          <p:nvPr/>
        </p:nvSpPr>
        <p:spPr>
          <a:xfrm>
            <a:off x="6373368" y="367588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592824" y="3630168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Reduced onboarding and training costs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6373368" y="410565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592824" y="4059936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Closer collaboration with universities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6373368" y="453542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592824" y="4489704"/>
            <a:ext cx="2240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into shaping relevant curricula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320040" y="4828032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Thinking beyond the classroom to real societal and industry impact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3" name="Google Shape;293;p23"/>
          <p:cNvSpPr txBox="1"/>
          <p:nvPr/>
        </p:nvSpPr>
        <p:spPr>
          <a:xfrm>
            <a:off x="678656" y="428625"/>
            <a:ext cx="3712964" cy="43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chemeClr val="bg1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Interactive Dashboard</a:t>
            </a:r>
          </a:p>
        </p:txBody>
      </p:sp>
      <p:sp>
        <p:nvSpPr>
          <p:cNvPr id="294" name="Google Shape;294;p23"/>
          <p:cNvSpPr/>
          <p:nvPr/>
        </p:nvSpPr>
        <p:spPr>
          <a:xfrm>
            <a:off x="571500" y="428625"/>
            <a:ext cx="35719" cy="407194"/>
          </a:xfrm>
          <a:prstGeom prst="rect">
            <a:avLst/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96" name="Google Shape;296;p23"/>
          <p:cNvSpPr txBox="1"/>
          <p:nvPr/>
        </p:nvSpPr>
        <p:spPr>
          <a:xfrm>
            <a:off x="571500" y="1946672"/>
            <a:ext cx="3825478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Key Features</a:t>
            </a:r>
          </a:p>
        </p:txBody>
      </p:sp>
      <p:sp>
        <p:nvSpPr>
          <p:cNvPr id="297" name="Google Shape;297;p23"/>
          <p:cNvSpPr txBox="1"/>
          <p:nvPr/>
        </p:nvSpPr>
        <p:spPr>
          <a:xfrm>
            <a:off x="571500" y="2282190"/>
            <a:ext cx="7100570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We designed and implemented a custom real-time data analytical dashboard for instant data exploration.</a:t>
            </a:r>
          </a:p>
        </p:txBody>
      </p:sp>
      <p:sp>
        <p:nvSpPr>
          <p:cNvPr id="298" name="Google Shape;298;p23"/>
          <p:cNvSpPr txBox="1"/>
          <p:nvPr/>
        </p:nvSpPr>
        <p:spPr>
          <a:xfrm>
            <a:off x="571500" y="2582545"/>
            <a:ext cx="7100570" cy="645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/>
            </a:r>
            <a:b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</a:br>
            <a:r>
              <a:rPr lang="en-US" sz="14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Utilizes fully modular interactive components for fast metric tracking across subsets.</a:t>
            </a:r>
          </a:p>
        </p:txBody>
      </p:sp>
      <p:sp>
        <p:nvSpPr>
          <p:cNvPr id="299" name="Google Shape;299;p23"/>
          <p:cNvSpPr txBox="1"/>
          <p:nvPr/>
        </p:nvSpPr>
        <p:spPr>
          <a:xfrm>
            <a:off x="571500" y="3282553"/>
            <a:ext cx="3825478" cy="24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0B1E36"/>
                </a:solidFill>
                <a:latin typeface="Calibri" panose="020F0502020204030204" pitchFamily="34" charset="0"/>
                <a:ea typeface="Poppins SemiBold" panose="00000500000000000000"/>
                <a:cs typeface="Calibri" panose="020F0502020204030204" pitchFamily="34" charset="0"/>
                <a:sym typeface="Poppins SemiBold" panose="00000500000000000000"/>
              </a:rPr>
              <a:t>Tech Stack</a:t>
            </a:r>
          </a:p>
        </p:txBody>
      </p:sp>
      <p:pic>
        <p:nvPicPr>
          <p:cNvPr id="300" name="Google Shape;300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618309"/>
            <a:ext cx="492919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135856" y="3618309"/>
            <a:ext cx="564356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1771650" y="3618309"/>
            <a:ext cx="821531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23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2664619" y="3618309"/>
            <a:ext cx="5143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7;p16"/>
          <p:cNvSpPr/>
          <p:nvPr/>
        </p:nvSpPr>
        <p:spPr>
          <a:xfrm>
            <a:off x="7358063" y="3282553"/>
            <a:ext cx="2143125" cy="2143125"/>
          </a:xfrm>
          <a:prstGeom prst="roundRect">
            <a:avLst>
              <a:gd name="adj" fmla="val 50000"/>
            </a:avLst>
          </a:prstGeom>
          <a:solidFill>
            <a:srgbClr val="E05A1D"/>
          </a:solidFill>
          <a:ln>
            <a:noFill/>
          </a:ln>
        </p:spPr>
        <p:txBody>
          <a:bodyPr spcFirstLastPara="1" wrap="square" lIns="68568" tIns="34275" rIns="68568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" name="Shape 21"/>
          <p:cNvSpPr/>
          <p:nvPr/>
        </p:nvSpPr>
        <p:spPr>
          <a:xfrm>
            <a:off x="2596726" y="1225470"/>
            <a:ext cx="2073830" cy="23981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29"/>
          <p:cNvSpPr/>
          <p:nvPr/>
        </p:nvSpPr>
        <p:spPr>
          <a:xfrm>
            <a:off x="5047403" y="1224408"/>
            <a:ext cx="1845229" cy="236043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37"/>
          <p:cNvSpPr/>
          <p:nvPr/>
        </p:nvSpPr>
        <p:spPr>
          <a:xfrm>
            <a:off x="7269479" y="1225470"/>
            <a:ext cx="1590985" cy="234981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5"/>
          <p:cNvSpPr/>
          <p:nvPr/>
        </p:nvSpPr>
        <p:spPr>
          <a:xfrm>
            <a:off x="184753" y="1224408"/>
            <a:ext cx="2183373" cy="236043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Reporting &amp; Documentation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1188720"/>
            <a:ext cx="272491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298448"/>
            <a:ext cx="2724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320040" y="17830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9768" y="2121408"/>
            <a:ext cx="250545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Clearly defined research goals and scope from the outset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4408" y="11887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64408" y="1188720"/>
            <a:ext cx="2724912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1298448"/>
            <a:ext cx="2724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🔬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264408" y="17830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374136" y="2121408"/>
            <a:ext cx="250545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Step-by-step documentation of research and analysis approach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208776" y="1188720"/>
            <a:ext cx="272491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08776" y="1188720"/>
            <a:ext cx="272491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08776" y="1298448"/>
            <a:ext cx="2724912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208776" y="178308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Findings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18504" y="2121408"/>
            <a:ext cx="250545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insights presented with supporting visualizations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1463040" y="3246120"/>
            <a:ext cx="2880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463040" y="3246120"/>
            <a:ext cx="2880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63040" y="331012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Limitations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572768" y="376732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Honest acknowledgment of research boundaries and constraints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09160" y="3246120"/>
            <a:ext cx="28803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3246120"/>
            <a:ext cx="2880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709160" y="3310128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💡  Recommendations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818888" y="3767328"/>
            <a:ext cx="2651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Actionable suggestions for universities, students, and industry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4754880"/>
            <a:ext cx="850392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Structured reporting with full traceability from objective to recommendation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 ·  Team Management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88720"/>
            <a:ext cx="850392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93192" y="1188720"/>
            <a:ext cx="1298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64792" y="1188720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10712" y="1188720"/>
            <a:ext cx="31272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Responsibility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611112" y="1188720"/>
            <a:ext cx="22128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 Applied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1600200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1600200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1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783080" y="1600200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Lead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429000" y="1600200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Collection &amp; Survey Distribution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29400" y="1600200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Communication, Field Research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20040" y="2130552"/>
            <a:ext cx="85039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11480" y="2130552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2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83080" y="2130552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Analyst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429000" y="2130552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 &amp; Preprocessing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629400" y="2130552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Accuracy, Attention to Detail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" y="2660904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11480" y="2660904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3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1783080" y="2660904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Engineer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3429000" y="2660904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Analysis &amp; Pattern Extraction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629400" y="2660904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Tools, Text Mining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20040" y="3191256"/>
            <a:ext cx="8503920" cy="530352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1480" y="3191256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4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783080" y="3191256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Visualizer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429000" y="3191256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Charts, Graphs &amp; Dashboard Design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629400" y="3191256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Communication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20040" y="3721608"/>
            <a:ext cx="8503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11480" y="3721608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Member 5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1783080" y="3721608"/>
            <a:ext cx="155448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Reporter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429000" y="3721608"/>
            <a:ext cx="31089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&amp; Presentation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629400" y="3721608"/>
            <a:ext cx="219456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Writing, Delivery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20040" y="4297680"/>
            <a:ext cx="850392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Collaboration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56032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Accountability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466344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Project Coordination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66560" y="4297680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Structured Roles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320040" y="4892040"/>
            <a:ext cx="8503920" cy="155448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20040" y="4892040"/>
            <a:ext cx="8503920" cy="1554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 Practice Applied: Clear role division, defined timelines, and collaborative accountability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4"/>
          <p:cNvSpPr/>
          <p:nvPr/>
        </p:nvSpPr>
        <p:spPr>
          <a:xfrm>
            <a:off x="952500" y="39370"/>
            <a:ext cx="850392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4" name="Shape 0"/>
          <p:cNvSpPr/>
          <p:nvPr/>
        </p:nvSpPr>
        <p:spPr>
          <a:xfrm>
            <a:off x="0" y="0"/>
            <a:ext cx="1494790" cy="514413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5" name="Shape 1"/>
          <p:cNvSpPr/>
          <p:nvPr/>
        </p:nvSpPr>
        <p:spPr>
          <a:xfrm>
            <a:off x="327025" y="690880"/>
            <a:ext cx="961390" cy="98933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495" y="829310"/>
            <a:ext cx="562610" cy="62928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7795" y="959485"/>
            <a:ext cx="1305560" cy="32448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12.  </a:t>
            </a: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Limitations &amp; Research Honesty</a:t>
            </a:r>
          </a:p>
        </p:txBody>
      </p:sp>
      <p:sp>
        <p:nvSpPr>
          <p:cNvPr id="8" name="Text 5"/>
          <p:cNvSpPr/>
          <p:nvPr/>
        </p:nvSpPr>
        <p:spPr>
          <a:xfrm>
            <a:off x="827405" y="50800"/>
            <a:ext cx="875411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9240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students hide limitations. We don't. Acknowledging limitations is a mark of true professionalism.</a:t>
            </a:r>
            <a:endParaRPr lang="en-US" sz="12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545" y="630555"/>
            <a:ext cx="6579235" cy="4421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74320" y="164592"/>
            <a:ext cx="658368" cy="65836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10312"/>
            <a:ext cx="502920" cy="502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97280" y="0"/>
            <a:ext cx="7315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 ·  Future Improvements &amp; Roadmap</a:t>
            </a:r>
            <a:endParaRPr lang="en-US" sz="2400" dirty="0"/>
          </a:p>
        </p:txBody>
      </p:sp>
      <p:sp>
        <p:nvSpPr>
          <p:cNvPr id="8" name="Shape 3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14730"/>
            <a:ext cx="9144000" cy="2039620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0710" y="3159125"/>
            <a:ext cx="5116830" cy="1786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3210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This Project Is Genuinely Strong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0" y="0"/>
            <a:ext cx="457200" cy="1005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55548" y="1307592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56" y="1362456"/>
            <a:ext cx="566928" cy="566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41448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076956" y="1307592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1362456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41448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Psychology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62856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198364" y="1307592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372" y="1362456"/>
            <a:ext cx="566928" cy="5669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62856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&amp; AI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684264" y="1143000"/>
            <a:ext cx="1965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319772" y="1307592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362456"/>
            <a:ext cx="566928" cy="56692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684264" y="2075688"/>
            <a:ext cx="1965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1005840" y="292608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892808" y="309067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6816" y="3145536"/>
            <a:ext cx="566928" cy="56692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858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Industry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520440" y="292608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407408" y="3090672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71416" y="3145536"/>
            <a:ext cx="566928" cy="56692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20440" y="3858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Professional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Ethics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035040" y="2926080"/>
            <a:ext cx="24688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8100000" algn="bl" rotWithShape="0">
              <a:srgbClr val="1E3A5F">
                <a:alpha val="8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6922008" y="3090672"/>
            <a:ext cx="685800" cy="6858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86016" y="3145536"/>
            <a:ext cx="566928" cy="56692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035040" y="3858768"/>
            <a:ext cx="2468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320040" y="4599432"/>
            <a:ext cx="85039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320040" y="4599432"/>
            <a:ext cx="85039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"Very few student projects combine all these disciplines properly — this one does."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9065" y="-187325"/>
            <a:ext cx="2374265" cy="2240280"/>
          </a:xfrm>
          <a:prstGeom prst="ellipse">
            <a:avLst/>
          </a:prstGeom>
          <a:solidFill>
            <a:srgbClr val="1D4ED8">
              <a:alpha val="35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1D4ED8">
              <a:alpha val="30000"/>
            </a:srgbClr>
          </a:solidFill>
          <a:ln w="12700">
            <a:solidFill>
              <a:srgbClr val="1D4E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 alt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457200"/>
            <a:ext cx="3291840" cy="320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0" y="45720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FJWU 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· Final Conclusion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Project Statement:</a:t>
            </a:r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8412480" cy="1554480"/>
          </a:xfrm>
          <a:prstGeom prst="rect">
            <a:avLst/>
          </a:prstGeom>
          <a:solidFill>
            <a:srgbClr val="1D3461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63040"/>
            <a:ext cx="8138160" cy="1463040"/>
          </a:xfrm>
          <a:prstGeom prst="rect">
            <a:avLst/>
          </a:prstGeom>
          <a:noFill/>
        </p:spPr>
        <p:txBody>
          <a:bodyPr wrap="square" lIns="63500" tIns="63500" rIns="63500" bIns="6350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"This project is not just a research study — it is an analytical framework to understand the disconnect between academic achievement and real-world readiness."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Research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Ethics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NLP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675120" y="315468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15468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Teamwork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57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Documentation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65760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68880" y="3657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Visual Communication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3657600"/>
            <a:ext cx="1920240" cy="347472"/>
          </a:xfrm>
          <a:prstGeom prst="rect">
            <a:avLst/>
          </a:prstGeom>
          <a:solidFill>
            <a:srgbClr val="1D4ED8">
              <a:alpha val="70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657600"/>
            <a:ext cx="19202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✔  Critical Thinking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3C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AE6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671763" y="2825353"/>
            <a:ext cx="3800475" cy="928688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7"/>
          <p:cNvSpPr txBox="1"/>
          <p:nvPr/>
        </p:nvSpPr>
        <p:spPr>
          <a:xfrm>
            <a:off x="371475" y="1389459"/>
            <a:ext cx="8401050" cy="676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 i="0" u="none" strike="noStrike" cap="none">
                <a:solidFill>
                  <a:srgbClr val="FAF8F5"/>
                </a:solidFill>
                <a:latin typeface="Times New Roman" panose="02020603050405020304" charset="0"/>
                <a:ea typeface="Poppins" panose="00000500000000000000"/>
                <a:cs typeface="Times New Roman" panose="02020603050405020304" charset="0"/>
                <a:sym typeface="Poppins" panose="00000500000000000000"/>
              </a:rPr>
              <a:t>Questions &amp; Discussion</a:t>
            </a:r>
          </a:p>
        </p:txBody>
      </p:sp>
      <p:sp>
        <p:nvSpPr>
          <p:cNvPr id="365" name="Google Shape;365;p27"/>
          <p:cNvSpPr txBox="1"/>
          <p:nvPr/>
        </p:nvSpPr>
        <p:spPr>
          <a:xfrm>
            <a:off x="571500" y="2303859"/>
            <a:ext cx="800100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4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your </a:t>
            </a:r>
            <a:r>
              <a:rPr lang="en-US" sz="160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valuable </a:t>
            </a:r>
            <a:r>
              <a:rPr lang="en-US" sz="1240" b="0" i="0" u="none" strike="noStrike" cap="none">
                <a:solidFill>
                  <a:srgbClr val="CBD5E1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time and attention.</a:t>
            </a:r>
          </a:p>
        </p:txBody>
      </p:sp>
      <p:sp>
        <p:nvSpPr>
          <p:cNvPr id="366" name="Google Shape;366;p27"/>
          <p:cNvSpPr txBox="1"/>
          <p:nvPr/>
        </p:nvSpPr>
        <p:spPr>
          <a:xfrm>
            <a:off x="2893163" y="3104874"/>
            <a:ext cx="33576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FJWU </a:t>
            </a:r>
            <a:r>
              <a:rPr lang="en-US" sz="1600" b="0" i="0" u="none" strike="noStrike" cap="none" dirty="0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CS 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Capstone Project - Batch 202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charset="0"/>
                <a:ea typeface="Poppins SemiBold" panose="00000500000000000000"/>
                <a:cs typeface="Times New Roman" panose="02020603050405020304" charset="0"/>
                <a:sym typeface="Poppins SemiBold" panose="00000500000000000000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1192</Words>
  <Application>Microsoft Office PowerPoint</Application>
  <PresentationFormat>On-screen Show (16:9)</PresentationFormat>
  <Paragraphs>276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Inter</vt:lpstr>
      <vt:lpstr>Inter Medium</vt:lpstr>
      <vt:lpstr>Poppins</vt:lpstr>
      <vt:lpstr>Poppins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GPA: Are FJWU Students Truly Job-Ready?</dc:title>
  <dc:subject>PptxGenJS Presentation</dc:subject>
  <dc:creator>PptxGenJS</dc:creator>
  <cp:lastModifiedBy>123</cp:lastModifiedBy>
  <cp:revision>18</cp:revision>
  <dcterms:created xsi:type="dcterms:W3CDTF">2026-05-15T07:28:00Z</dcterms:created>
  <dcterms:modified xsi:type="dcterms:W3CDTF">2026-05-22T19:21:07Z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83A5AB7BEFD64DF68D9899A6A9247A03_13</vt:lpwstr>
  </property>
  <property fmtid="{D5CDD505-2E9C-101B-9397-08002B2CF9AE}" pid="3" name="KSOProductBuildVer">
    <vt:lpwstr>2057-12.2.0.23202</vt:lpwstr>
  </property>
</Properties>
</file>